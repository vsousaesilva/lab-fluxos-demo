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0ff6585-2382-5890-4c4c-de06abcdd53f}">
          <p14:sldIdLst>
            <p14:sldId id="256"/>
            <p14:sldId id="257"/>
          </p14:sldIdLst>
        </p14:section>
        <p14:section name="A ideia" id="{8a541847-8616-ae17-ae2f-3447c9dffe6f}">
          <p14:sldIdLst>
            <p14:sldId id="258"/>
          </p14:sldIdLst>
        </p14:section>
        <p14:section name="A construção" id="{1dda8144-df71-e2e4-1ad4-188a21056a06}">
          <p14:sldIdLst>
            <p14:sldId id="259"/>
            <p14:sldId id="260"/>
            <p14:sldId id="261"/>
          </p14:sldIdLst>
        </p14:section>
        <p14:section name="O método" id="{70d64405-fd39-780b-fe85-6d21bc71c87d}">
          <p14:sldIdLst>
            <p14:sldId id="262"/>
          </p14:sldIdLst>
        </p14:section>
        <p14:section name="Os fluxos" id="{a2f326b1-eb1f-200c-7aff-e98f382898d4}">
          <p14:sldIdLst>
            <p14:sldId id="263"/>
            <p14:sldId id="264"/>
            <p14:sldId id="265"/>
          </p14:sldIdLst>
        </p14:section>
        <p14:section name="Encerramento" id="{5929a6d2-110c-cd9c-af12-88edd57f827f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s. Cumprimentar a organização e o público. Apresentar-se em uma frase.
"Em 15 minutos vou contar como um grupo da área fim da Justiça Federal no Ceará virou um laboratório que hoje entrega fluxos completos para o PJe da 5ª Região, e mostrar dois deles em execução."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s. Passar rápido. Reforçar que o centro da fala é a demonstração (parte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30 s. Contar a origem: servidores da área fim, na SJCE, perceberam gargalos nos fluxos do PJe.
Em vez de esperar, buscaram o TRF5 para oferecer ajuda. Começou pequeno: ajustes em fluxos que já existiam.
Mensagem-chave: a iniciativa veio de quem opera o processo.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30 s. Percorrer a linha do tempo da esquerda para a direita.
(2) A formação da equipe, com gente de negócio e de tecnologia, permitiu passos maiores. Agradecer a Anderson de Sousa Peres e Erick Gama Touret de Faria, servidores do TRF1, instrutores dos treinamentos iniciais de formação do Laboratório.
(3) Execução Fiscal: primeiro fluxo completo para a JF5.
(4) Primeiras entregas ao TRF5, sob a coordenação do Tribunal e atendendo às demandas dele.
(5) Aporte do JCP e treinamento do Samuel (próximo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O programa Justiça Centrada nas Pessoas (convênio TRF5 + JFCE + PNUD) trouxe suporte técnico ainda mais especializado.
O servidor Samuel de Aguiar Rodrigues, do TRF5, treinou a equipe em desenvolvimento no PJe. Agradecer.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Apresentar a equipe de negócio pelo nome. Destacar que o diferencial é ter área fim e desenvolvimento juntos:
quem conhece a regra e quem escreve o fluxo trabalham na mesma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Mostrar o caminho de uma demanda. Cada etapa tem um agente de IA que gera um rascunho (análise, HU, sprint, BPMN, XML), mas nada avança sem aprovação humana (Aprovar / Rejeitar / Editar).
A IA consulta os 212 fluxos já existentes do PJe para gerar XML coerente com o padrão da Região.
O validador verifica início, fim, becos sem saída, nós inalcançáveis, transições quebradas e expressões EL.
Frase-chave: "A IA acelera; quem decide é a equipe."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 30 s. Mostrar onde o fluxo de Acordo se encaixa entre os fluxos ativos do PJe.
Percorrer o caminho principal: entrada, tarefas e saídas.
[Completar com os destaques do fluxo.]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 30 s. Percorrer o fluxo de Mandado de Segurança.
[Completar com os destaques do fluxo.]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(ou o tempo que sobrar). Alternar para o PJe / vídeo da demonstração.
Se a demonstração ao vivo falhar, voltar aos diagramas dos slides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s. Agradecer ao TRF5, à JFCE, ao PNUD / Justiça Centrada nas Pessoas, aos apoiadores do TRF1 e do TRF5 e à equipe.
Convidar quem quiser conhecer o Laboratório a procurar 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PJe Summit · 10ª ExpoJud · Brasília – DF</a:t>
            </a:r>
            <a:endParaRPr lang="en-US" sz="1000" dirty="0"/>
          </a:p>
        </p:txBody>
      </p:sp>
      <p:pic>
        <p:nvPicPr>
          <p:cNvPr id="5" name="Image 0" descr="/home/user/lab-fluxos-demo/apresentacao/expojud-2026/logo-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6291072"/>
            <a:ext cx="1615158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09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PJe Summit · 10ª ExpoJud · Brasília – DF</a:t>
            </a:r>
            <a:endParaRPr lang="en-US" sz="1000" dirty="0"/>
          </a:p>
        </p:txBody>
      </p:sp>
      <p:pic>
        <p:nvPicPr>
          <p:cNvPr id="4" name="Image 0" descr="/home/user/lab-fluxos-demo/apresentacao/expojud-2026/logo-lab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6291072"/>
            <a:ext cx="1615158" cy="3657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09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usticacentradanaspessoas.jfce.jus.br/laboratorio-de-fluxos/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Laboratório de Fluxos" descr="/home/user/lab-fluxos-demo/apresentacao/expojud-2026/logo-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3149559" cy="7132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23760" y="5943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PJe Summit · 10ª ExpoJud</a:t>
            </a:r>
            <a:endParaRPr lang="en-US" sz="1500" dirty="0"/>
          </a:p>
          <a:p>
            <a:pPr algn="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06 a 08 de outubro · Brasília – DF</a:t>
            </a:r>
            <a:endParaRPr lang="en-US" sz="1500" dirty="0"/>
          </a:p>
        </p:txBody>
      </p:sp>
      <p:sp>
        <p:nvSpPr>
          <p:cNvPr id="4" name="Círculo fundo"/>
          <p:cNvSpPr/>
          <p:nvPr/>
        </p:nvSpPr>
        <p:spPr>
          <a:xfrm>
            <a:off x="8275320" y="1965960"/>
            <a:ext cx="3931920" cy="39319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5" name="Círculo laranja"/>
          <p:cNvSpPr/>
          <p:nvPr/>
        </p:nvSpPr>
        <p:spPr>
          <a:xfrm>
            <a:off x="8001000" y="17373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Círculo azul claro"/>
          <p:cNvSpPr/>
          <p:nvPr/>
        </p:nvSpPr>
        <p:spPr>
          <a:xfrm>
            <a:off x="11658600" y="2148840"/>
            <a:ext cx="320040" cy="3200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Círculo azul"/>
          <p:cNvSpPr/>
          <p:nvPr/>
        </p:nvSpPr>
        <p:spPr>
          <a:xfrm>
            <a:off x="8138160" y="55778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Círculo vermelho"/>
          <p:cNvSpPr/>
          <p:nvPr/>
        </p:nvSpPr>
        <p:spPr>
          <a:xfrm>
            <a:off x="11521440" y="5715000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Logo Justiça Centrada nas Pessoas" descr="/home/user/lab-fluxos-demo/apresentacao/expojud-2026/logo-j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651760"/>
            <a:ext cx="2468880" cy="24533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182880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criação do Laboratório de Fluxos à entrega dos fluxos de </a:t>
            </a:r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Acordo</a:t>
            </a:r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Mandado de Segurança</a:t>
            </a:r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TRF5</a:t>
            </a:r>
            <a:endParaRPr lang="en-US" sz="3800" dirty="0"/>
          </a:p>
        </p:txBody>
      </p:sp>
      <p:sp>
        <p:nvSpPr>
          <p:cNvPr id="11" name="Marcador palestrante"/>
          <p:cNvSpPr/>
          <p:nvPr/>
        </p:nvSpPr>
        <p:spPr>
          <a:xfrm>
            <a:off x="640080" y="480060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005840" y="4663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Vinícius Sousa e Silva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1005840" y="51206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Diretor de Secretaria da 35ª Vara Federal do Ceará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Coordenador Executivo do INOVAJUS e do Laboratório de Fluxos da SJCE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ROTEIRO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15 minutos, quatro paradas</a:t>
            </a:r>
            <a:endParaRPr lang="en-US" sz="3200" dirty="0"/>
          </a:p>
        </p:txBody>
      </p:sp>
      <p:sp>
        <p:nvSpPr>
          <p:cNvPr id="4" name="Cartão A ideia"/>
          <p:cNvSpPr/>
          <p:nvPr/>
        </p:nvSpPr>
        <p:spPr>
          <a:xfrm>
            <a:off x="548640" y="2011680"/>
            <a:ext cx="2606040" cy="35661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5" name="Círculo 01"/>
          <p:cNvSpPr/>
          <p:nvPr/>
        </p:nvSpPr>
        <p:spPr>
          <a:xfrm>
            <a:off x="868680" y="23317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31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Uma necessidade percebida na área fim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 min</a:t>
            </a:r>
            <a:endParaRPr lang="en-US" sz="1400" dirty="0"/>
          </a:p>
        </p:txBody>
      </p:sp>
      <p:sp>
        <p:nvSpPr>
          <p:cNvPr id="10" name="Cartão A construção"/>
          <p:cNvSpPr/>
          <p:nvPr/>
        </p:nvSpPr>
        <p:spPr>
          <a:xfrm>
            <a:off x="3383280" y="2011680"/>
            <a:ext cx="2606040" cy="35661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1" name="Círculo 02"/>
          <p:cNvSpPr/>
          <p:nvPr/>
        </p:nvSpPr>
        <p:spPr>
          <a:xfrm>
            <a:off x="3703320" y="23317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0332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construção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931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Equipe, parcerias e as primeiras entregas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4 min</a:t>
            </a:r>
            <a:endParaRPr lang="en-US" sz="1400" dirty="0"/>
          </a:p>
        </p:txBody>
      </p:sp>
      <p:sp>
        <p:nvSpPr>
          <p:cNvPr id="16" name="Cartão O método"/>
          <p:cNvSpPr/>
          <p:nvPr/>
        </p:nvSpPr>
        <p:spPr>
          <a:xfrm>
            <a:off x="6217920" y="2011680"/>
            <a:ext cx="2606040" cy="35661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7" name="Círculo 03"/>
          <p:cNvSpPr/>
          <p:nvPr/>
        </p:nvSpPr>
        <p:spPr>
          <a:xfrm>
            <a:off x="6537960" y="23317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método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931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Como uma demanda vira fluxo no PJe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 min</a:t>
            </a:r>
            <a:endParaRPr lang="en-US" sz="1400" dirty="0"/>
          </a:p>
        </p:txBody>
      </p:sp>
      <p:sp>
        <p:nvSpPr>
          <p:cNvPr id="22" name="Cartão Os fluxos"/>
          <p:cNvSpPr/>
          <p:nvPr/>
        </p:nvSpPr>
        <p:spPr>
          <a:xfrm>
            <a:off x="9052560" y="2011680"/>
            <a:ext cx="2606040" cy="35661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3" name="Círculo 04"/>
          <p:cNvSpPr/>
          <p:nvPr/>
        </p:nvSpPr>
        <p:spPr>
          <a:xfrm>
            <a:off x="9372600" y="233172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7260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37260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fluxos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3931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Acordo e Mandado de Segurança em execução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72600" y="4983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6 min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09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01 · A IDEIA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usa o fluxo todos os dias sabe onde ele trava</a:t>
            </a:r>
            <a:endParaRPr lang="en-US" sz="3200" dirty="0"/>
          </a:p>
        </p:txBody>
      </p:sp>
      <p:sp>
        <p:nvSpPr>
          <p:cNvPr id="4" name="Cartão citação"/>
          <p:cNvSpPr/>
          <p:nvPr/>
        </p:nvSpPr>
        <p:spPr>
          <a:xfrm>
            <a:off x="548640" y="2011680"/>
            <a:ext cx="5394960" cy="38404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Laboratório nasceu da área fim da Seção Judiciária do Ceará, de quem percebeu, no dia a dia das varas, a necessidade de melhorar os fluxos do PJe.</a:t>
            </a:r>
            <a:endParaRPr lang="en-US" sz="2200" dirty="0"/>
          </a:p>
        </p:txBody>
      </p:sp>
      <p:sp>
        <p:nvSpPr>
          <p:cNvPr id="7" name="Diálogo com o TRF5"/>
          <p:cNvSpPr/>
          <p:nvPr/>
        </p:nvSpPr>
        <p:spPr>
          <a:xfrm>
            <a:off x="6492240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Ícone Diálogo com o TRF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9750" y="2300630"/>
            <a:ext cx="336499" cy="33649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20848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Diálogo com o TRF5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4688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 Tribunal coordena o PJe na 5ª Região. A proposta foi oferecer apoio.</a:t>
            </a:r>
            <a:endParaRPr lang="en-US" sz="1500" dirty="0"/>
          </a:p>
        </p:txBody>
      </p:sp>
      <p:sp>
        <p:nvSpPr>
          <p:cNvPr id="11" name="Melhorias pontuais"/>
          <p:cNvSpPr/>
          <p:nvPr/>
        </p:nvSpPr>
        <p:spPr>
          <a:xfrm>
            <a:off x="6492240" y="32461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Ícone Melhorias pontuai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750" y="3443630"/>
            <a:ext cx="336499" cy="33649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52360" y="32278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Melhorias pontuais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36118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Primeiro passo: ajustes em fluxos que já existiam.</a:t>
            </a:r>
            <a:endParaRPr lang="en-US" sz="1500" dirty="0"/>
          </a:p>
        </p:txBody>
      </p:sp>
      <p:sp>
        <p:nvSpPr>
          <p:cNvPr id="15" name="Apoio, não caminho paralelo"/>
          <p:cNvSpPr/>
          <p:nvPr/>
        </p:nvSpPr>
        <p:spPr>
          <a:xfrm>
            <a:off x="6492240" y="43891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Ícone Apoio, não caminho paralel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750" y="458663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52360" y="43708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Apoio, não caminho paralelo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452360" y="47548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Somar esforços com a Região, a partir de quem opera o processo.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09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02 · A CONSTRUÇÃO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 ajustes pontuais a fluxos completos</a:t>
            </a:r>
            <a:endParaRPr lang="en-US" sz="3200" dirty="0"/>
          </a:p>
        </p:txBody>
      </p:sp>
      <p:sp>
        <p:nvSpPr>
          <p:cNvPr id="4" name="Linha do tempo"/>
          <p:cNvSpPr/>
          <p:nvPr/>
        </p:nvSpPr>
        <p:spPr>
          <a:xfrm>
            <a:off x="914400" y="2514600"/>
            <a:ext cx="923544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</p:sp>
      <p:sp>
        <p:nvSpPr>
          <p:cNvPr id="5" name="Círculo 1"/>
          <p:cNvSpPr/>
          <p:nvPr/>
        </p:nvSpPr>
        <p:spPr>
          <a:xfrm>
            <a:off x="548640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Melhorias pontuais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Ajustes em fluxos existentes, em diálogo com o TRF5</a:t>
            </a:r>
            <a:endParaRPr lang="en-US" sz="1400" dirty="0"/>
          </a:p>
        </p:txBody>
      </p:sp>
      <p:sp>
        <p:nvSpPr>
          <p:cNvPr id="9" name="Círculo 2"/>
          <p:cNvSpPr/>
          <p:nvPr/>
        </p:nvSpPr>
        <p:spPr>
          <a:xfrm>
            <a:off x="2395728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95728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395728" y="315468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formada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395728" y="397764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Área fim + tecnologia, capacitadas por instrutores do TRF1</a:t>
            </a:r>
            <a:endParaRPr lang="en-US" sz="1400" dirty="0"/>
          </a:p>
        </p:txBody>
      </p:sp>
      <p:sp>
        <p:nvSpPr>
          <p:cNvPr id="13" name="Círculo 3"/>
          <p:cNvSpPr/>
          <p:nvPr/>
        </p:nvSpPr>
        <p:spPr>
          <a:xfrm>
            <a:off x="4242816" y="21488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42816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242816" y="315468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Fiscal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42816" y="397764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Primeiro fluxo completo entregue à Justiça Federal da 5ª Região</a:t>
            </a:r>
            <a:endParaRPr lang="en-US" sz="1400" dirty="0"/>
          </a:p>
        </p:txBody>
      </p:sp>
      <p:sp>
        <p:nvSpPr>
          <p:cNvPr id="17" name="Círculo 4"/>
          <p:cNvSpPr/>
          <p:nvPr/>
        </p:nvSpPr>
        <p:spPr>
          <a:xfrm>
            <a:off x="6089904" y="21488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89904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089904" y="315468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ao TRF5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089904" y="397764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Sob coordenação do Tribunal, atendendo às demandas solicitadas</a:t>
            </a:r>
            <a:endParaRPr lang="en-US" sz="1400" dirty="0"/>
          </a:p>
        </p:txBody>
      </p:sp>
      <p:sp>
        <p:nvSpPr>
          <p:cNvPr id="21" name="Círculo 5"/>
          <p:cNvSpPr/>
          <p:nvPr/>
        </p:nvSpPr>
        <p:spPr>
          <a:xfrm>
            <a:off x="7936992" y="21488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36992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315468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Justiça Centrada nas Pessoas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936992" y="397764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Aporte do programa (TRF5 · JFCE · PNUD) e capacitação em PJe</a:t>
            </a:r>
            <a:endParaRPr lang="en-US" sz="1400" dirty="0"/>
          </a:p>
        </p:txBody>
      </p:sp>
      <p:sp>
        <p:nvSpPr>
          <p:cNvPr id="25" name="Círculo 6"/>
          <p:cNvSpPr/>
          <p:nvPr/>
        </p:nvSpPr>
        <p:spPr>
          <a:xfrm>
            <a:off x="9784080" y="21488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840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3154680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Acordo e Mandado de Segurança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0" y="3977640"/>
            <a:ext cx="16642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Novos fluxos entregues ao TRF5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09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02 · A CONSTRUÇÃO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aporte do Justiça Centrada nas Pessoas</a:t>
            </a:r>
            <a:endParaRPr lang="en-US" sz="3200" dirty="0"/>
          </a:p>
        </p:txBody>
      </p:sp>
      <p:pic>
        <p:nvPicPr>
          <p:cNvPr id="4" name="Logo Justiça Centrada nas Pessoas" descr="/home/user/lab-fluxos-demo/apresentacao/expojud-2026/logo-j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931920" cy="3907169"/>
          </a:xfrm>
          <a:prstGeom prst="rect">
            <a:avLst/>
          </a:prstGeom>
        </p:spPr>
      </p:pic>
      <p:sp>
        <p:nvSpPr>
          <p:cNvPr id="5" name="Convênio com as Nações Unidas"/>
          <p:cNvSpPr/>
          <p:nvPr/>
        </p:nvSpPr>
        <p:spPr>
          <a:xfrm>
            <a:off x="5760720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Ícone Convênio com as Nações Unida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230" y="2300630"/>
            <a:ext cx="336499" cy="33649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720840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Convênio com as Nações Unidas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720840" y="24688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TRF5 e JFCE em parceria com o PNUD.</a:t>
            </a:r>
            <a:endParaRPr lang="en-US" sz="1500" dirty="0"/>
          </a:p>
        </p:txBody>
      </p:sp>
      <p:sp>
        <p:nvSpPr>
          <p:cNvPr id="9" name="Suporte técnico especializado"/>
          <p:cNvSpPr/>
          <p:nvPr/>
        </p:nvSpPr>
        <p:spPr>
          <a:xfrm>
            <a:off x="5760720" y="32461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Ícone Suporte técnico especializad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230" y="3443630"/>
            <a:ext cx="336499" cy="33649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720840" y="3227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técnico especializado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6720840" y="36118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Mais estrutura e método para a equipe do Laboratório.</a:t>
            </a:r>
            <a:endParaRPr lang="en-US" sz="1500" dirty="0"/>
          </a:p>
        </p:txBody>
      </p:sp>
      <p:sp>
        <p:nvSpPr>
          <p:cNvPr id="13" name="Capacitação em desenvolvimento PJe"/>
          <p:cNvSpPr/>
          <p:nvPr/>
        </p:nvSpPr>
        <p:spPr>
          <a:xfrm>
            <a:off x="5760720" y="43891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Ícone Capacitação em desenvolvimento PJ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230" y="4586630"/>
            <a:ext cx="336499" cy="33649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720840" y="4370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em desenvolvimento PJe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6720840" y="47548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Treinamento com Samuel de Aguiar Rodrigues, servidor do TRF5.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09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02 · A CONSTRUÇÃO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Hoje: negócio e desenvolvimento no mesmo time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de negócio</a:t>
            </a:r>
            <a:endParaRPr lang="en-US" sz="1800" dirty="0"/>
          </a:p>
        </p:txBody>
      </p:sp>
      <p:sp>
        <p:nvSpPr>
          <p:cNvPr id="5" name="Cartão Italo Martins"/>
          <p:cNvSpPr/>
          <p:nvPr/>
        </p:nvSpPr>
        <p:spPr>
          <a:xfrm>
            <a:off x="548640" y="237744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6" name="Avatar Italo Martins"/>
          <p:cNvSpPr/>
          <p:nvPr/>
        </p:nvSpPr>
        <p:spPr>
          <a:xfrm>
            <a:off x="731520" y="2560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Italo Martins</a:t>
            </a:r>
            <a:endParaRPr lang="en-US" sz="1500" dirty="0"/>
          </a:p>
        </p:txBody>
      </p:sp>
      <p:sp>
        <p:nvSpPr>
          <p:cNvPr id="9" name="Cartão Danielle Lira"/>
          <p:cNvSpPr/>
          <p:nvPr/>
        </p:nvSpPr>
        <p:spPr>
          <a:xfrm>
            <a:off x="3337560" y="237744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0" name="Avatar Danielle Lira"/>
          <p:cNvSpPr/>
          <p:nvPr/>
        </p:nvSpPr>
        <p:spPr>
          <a:xfrm>
            <a:off x="3520440" y="25603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514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Danielle Lira</a:t>
            </a:r>
            <a:endParaRPr lang="en-US" sz="1500" dirty="0"/>
          </a:p>
        </p:txBody>
      </p:sp>
      <p:sp>
        <p:nvSpPr>
          <p:cNvPr id="13" name="Cartão Gabriela de Sousa"/>
          <p:cNvSpPr/>
          <p:nvPr/>
        </p:nvSpPr>
        <p:spPr>
          <a:xfrm>
            <a:off x="548640" y="361188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4" name="Avatar Gabriela de Sousa"/>
          <p:cNvSpPr/>
          <p:nvPr/>
        </p:nvSpPr>
        <p:spPr>
          <a:xfrm>
            <a:off x="731520" y="37947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749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Gabriela de Sousa</a:t>
            </a:r>
            <a:endParaRPr lang="en-US" sz="1500" dirty="0"/>
          </a:p>
        </p:txBody>
      </p:sp>
      <p:sp>
        <p:nvSpPr>
          <p:cNvPr id="17" name="Cartão Vinícius Sousa e Silva"/>
          <p:cNvSpPr/>
          <p:nvPr/>
        </p:nvSpPr>
        <p:spPr>
          <a:xfrm>
            <a:off x="3337560" y="361188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8" name="Avatar Vinícius Sousa e Silva"/>
          <p:cNvSpPr/>
          <p:nvPr/>
        </p:nvSpPr>
        <p:spPr>
          <a:xfrm>
            <a:off x="3520440" y="37947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204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749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Vinícius Sousa e Silva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de desenvolvimento</a:t>
            </a:r>
            <a:endParaRPr lang="en-US" sz="1800" dirty="0"/>
          </a:p>
        </p:txBody>
      </p:sp>
      <p:sp>
        <p:nvSpPr>
          <p:cNvPr id="22" name="Cartão desenvolvimento"/>
          <p:cNvSpPr/>
          <p:nvPr/>
        </p:nvSpPr>
        <p:spPr>
          <a:xfrm>
            <a:off x="6400800" y="2377440"/>
            <a:ext cx="5212080" cy="2240280"/>
          </a:xfrm>
          <a:prstGeom prst="roundRect">
            <a:avLst>
              <a:gd name="adj" fmla="val 6122"/>
            </a:avLst>
          </a:prstGeom>
          <a:solidFill>
            <a:schemeClr val="tx1"/>
          </a:solidFill>
          <a:ln/>
        </p:spPr>
      </p:sp>
      <p:sp>
        <p:nvSpPr>
          <p:cNvPr id="23" name="Desenvolvimento"/>
          <p:cNvSpPr/>
          <p:nvPr/>
        </p:nvSpPr>
        <p:spPr>
          <a:xfrm>
            <a:off x="6720840" y="26974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Ícone Desenvolviment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8350" y="2894990"/>
            <a:ext cx="336499" cy="336499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680960" y="26974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Capaz de entregar, com qualidade, fluxos e serviços voltados para o PJe.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Apoios na formação: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Anderson de Sousa Peres e Erick Gama Touret de Faria (TRF1), instrutores dos treinamentos iniciais · Samuel de Aguiar Rodrigues (TRF5) · Programa Justiça Centrada nas Pessoas (PNUD)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09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03 · O MÉTODO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 demanda ao fluxo, sob Scrum e com IA de apoio</a:t>
            </a:r>
            <a:endParaRPr lang="en-US" sz="3200" dirty="0"/>
          </a:p>
        </p:txBody>
      </p:sp>
      <p:sp>
        <p:nvSpPr>
          <p:cNvPr id="4" name="Etapa Demanda"/>
          <p:cNvSpPr/>
          <p:nvPr/>
        </p:nvSpPr>
        <p:spPr>
          <a:xfrm>
            <a:off x="548640" y="1920240"/>
            <a:ext cx="1673352" cy="914400"/>
          </a:xfrm>
          <a:prstGeom prst="homePlat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1124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registrada pela área fim</a:t>
            </a:r>
            <a:endParaRPr lang="en-US" sz="1300" dirty="0"/>
          </a:p>
        </p:txBody>
      </p:sp>
      <p:sp>
        <p:nvSpPr>
          <p:cNvPr id="7" name="Etapa Análise"/>
          <p:cNvSpPr/>
          <p:nvPr/>
        </p:nvSpPr>
        <p:spPr>
          <a:xfrm>
            <a:off x="2112264" y="1920240"/>
            <a:ext cx="1673352" cy="914400"/>
          </a:xfrm>
          <a:prstGeom prst="chevron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32304" y="1920240"/>
            <a:ext cx="1124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49424" y="29718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backlog e critérios de aceite</a:t>
            </a:r>
            <a:endParaRPr lang="en-US" sz="1300" dirty="0"/>
          </a:p>
        </p:txBody>
      </p:sp>
      <p:sp>
        <p:nvSpPr>
          <p:cNvPr id="10" name="Etapa História de Usuário"/>
          <p:cNvSpPr/>
          <p:nvPr/>
        </p:nvSpPr>
        <p:spPr>
          <a:xfrm>
            <a:off x="3675888" y="1920240"/>
            <a:ext cx="1673352" cy="914400"/>
          </a:xfrm>
          <a:prstGeom prst="chevron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95928" y="1920240"/>
            <a:ext cx="1124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História de Usuário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29718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BDD + regras de negócio</a:t>
            </a:r>
            <a:endParaRPr lang="en-US" sz="1300" dirty="0"/>
          </a:p>
        </p:txBody>
      </p:sp>
      <p:sp>
        <p:nvSpPr>
          <p:cNvPr id="13" name="Etapa Sprint"/>
          <p:cNvSpPr/>
          <p:nvPr/>
        </p:nvSpPr>
        <p:spPr>
          <a:xfrm>
            <a:off x="5239512" y="1920240"/>
            <a:ext cx="1673352" cy="914400"/>
          </a:xfrm>
          <a:prstGeom prst="chevron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59552" y="1920240"/>
            <a:ext cx="1124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29718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planejamento e ritos</a:t>
            </a:r>
            <a:endParaRPr lang="en-US" sz="1300" dirty="0"/>
          </a:p>
        </p:txBody>
      </p:sp>
      <p:sp>
        <p:nvSpPr>
          <p:cNvPr id="16" name="Etapa BPMN"/>
          <p:cNvSpPr/>
          <p:nvPr/>
        </p:nvSpPr>
        <p:spPr>
          <a:xfrm>
            <a:off x="6803136" y="1920240"/>
            <a:ext cx="1673352" cy="914400"/>
          </a:xfrm>
          <a:prstGeom prst="chevron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23176" y="1920240"/>
            <a:ext cx="1124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40296" y="29718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desenho do fluxo</a:t>
            </a:r>
            <a:endParaRPr lang="en-US" sz="1300" dirty="0"/>
          </a:p>
        </p:txBody>
      </p:sp>
      <p:sp>
        <p:nvSpPr>
          <p:cNvPr id="19" name="Etapa XML jPDL"/>
          <p:cNvSpPr/>
          <p:nvPr/>
        </p:nvSpPr>
        <p:spPr>
          <a:xfrm>
            <a:off x="8366760" y="1920240"/>
            <a:ext cx="1673352" cy="914400"/>
          </a:xfrm>
          <a:prstGeom prst="chevron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0" y="1920240"/>
            <a:ext cx="1124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 jPDL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9718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fluxo pronto para o PJe</a:t>
            </a:r>
            <a:endParaRPr lang="en-US" sz="1300" dirty="0"/>
          </a:p>
        </p:txBody>
      </p:sp>
      <p:sp>
        <p:nvSpPr>
          <p:cNvPr id="22" name="Etapa Validação"/>
          <p:cNvSpPr/>
          <p:nvPr/>
        </p:nvSpPr>
        <p:spPr>
          <a:xfrm>
            <a:off x="9930384" y="1920240"/>
            <a:ext cx="1673352" cy="914400"/>
          </a:xfrm>
          <a:prstGeom prst="chevron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50424" y="1920240"/>
            <a:ext cx="1124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67544" y="2971800"/>
            <a:ext cx="1399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regras automáticas + homologação</a:t>
            </a:r>
            <a:endParaRPr lang="en-US" sz="1300" dirty="0"/>
          </a:p>
        </p:txBody>
      </p:sp>
      <p:sp>
        <p:nvSpPr>
          <p:cNvPr id="25" name="Indicador 212"/>
          <p:cNvSpPr/>
          <p:nvPr/>
        </p:nvSpPr>
        <p:spPr>
          <a:xfrm>
            <a:off x="548640" y="393192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</a:t>
            </a:r>
            <a:endParaRPr lang="en-US" sz="4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937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fluxos do PJe indexados como base de consulta</a:t>
            </a:r>
            <a:endParaRPr lang="en-US" sz="1400" dirty="0"/>
          </a:p>
        </p:txBody>
      </p:sp>
      <p:sp>
        <p:nvSpPr>
          <p:cNvPr id="28" name="Indicador 2.713"/>
          <p:cNvSpPr/>
          <p:nvPr/>
        </p:nvSpPr>
        <p:spPr>
          <a:xfrm>
            <a:off x="3383280" y="393192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65760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2.713</a:t>
            </a:r>
            <a:endParaRPr lang="en-US" sz="44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0" y="4937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expressões (EL) catalogadas e descritas</a:t>
            </a:r>
            <a:endParaRPr lang="en-US" sz="1400" dirty="0"/>
          </a:p>
        </p:txBody>
      </p:sp>
      <p:sp>
        <p:nvSpPr>
          <p:cNvPr id="31" name="Indicador 6"/>
          <p:cNvSpPr/>
          <p:nvPr/>
        </p:nvSpPr>
        <p:spPr>
          <a:xfrm>
            <a:off x="6217920" y="393192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4937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regras automáticas de validação do XML</a:t>
            </a:r>
            <a:endParaRPr lang="en-US" sz="1400" dirty="0"/>
          </a:p>
        </p:txBody>
      </p:sp>
      <p:sp>
        <p:nvSpPr>
          <p:cNvPr id="34" name="Indicador 100%"/>
          <p:cNvSpPr/>
          <p:nvPr/>
        </p:nvSpPr>
        <p:spPr>
          <a:xfrm>
            <a:off x="9052560" y="393192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32688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36" name="Text 34"/>
          <p:cNvSpPr txBox="1"/>
          <p:nvPr/>
        </p:nvSpPr>
        <p:spPr>
          <a:xfrm>
            <a:off x="9326880" y="49377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 saídas da IA passam por aprovação humana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09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04 · OS FLUXOS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Fluxo de Acordo</a:t>
            </a:r>
            <a:endParaRPr lang="en-US" sz="3200" dirty="0"/>
          </a:p>
        </p:txBody>
      </p:sp>
      <p:sp>
        <p:nvSpPr>
          <p:cNvPr id="4" name="Marcador 1"/>
          <p:cNvSpPr/>
          <p:nvPr/>
        </p:nvSpPr>
        <p:spPr>
          <a:xfrm>
            <a:off x="548640" y="212140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Integrado aos fluxos ativos do PJe</a:t>
            </a:r>
            <a:endParaRPr lang="en-US" sz="1600" dirty="0"/>
          </a:p>
        </p:txBody>
      </p:sp>
      <p:sp>
        <p:nvSpPr>
          <p:cNvPr id="6" name="Marcador 2"/>
          <p:cNvSpPr/>
          <p:nvPr/>
        </p:nvSpPr>
        <p:spPr>
          <a:xfrm>
            <a:off x="548640" y="3264408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1546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[o que o fluxo resolve]</a:t>
            </a:r>
            <a:endParaRPr lang="en-US" sz="1600" dirty="0"/>
          </a:p>
        </p:txBody>
      </p:sp>
      <p:sp>
        <p:nvSpPr>
          <p:cNvPr id="8" name="Marcador 3"/>
          <p:cNvSpPr/>
          <p:nvPr/>
        </p:nvSpPr>
        <p:spPr>
          <a:xfrm>
            <a:off x="548640" y="4407408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2976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[ganho para a vara e as partes]</a:t>
            </a:r>
            <a:endParaRPr lang="en-US" sz="1600" dirty="0"/>
          </a:p>
        </p:txBody>
      </p:sp>
      <p:sp>
        <p:nvSpPr>
          <p:cNvPr id="10" name="Área do diagrama"/>
          <p:cNvSpPr/>
          <p:nvPr/>
        </p:nvSpPr>
        <p:spPr>
          <a:xfrm>
            <a:off x="4389120" y="1874520"/>
            <a:ext cx="7223760" cy="4160520"/>
          </a:xfrm>
          <a:prstGeom prst="roundRect">
            <a:avLst>
              <a:gd name="adj" fmla="val 3297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11" name="Instrução do diagrama"/>
          <p:cNvSpPr txBox="1"/>
          <p:nvPr/>
        </p:nvSpPr>
        <p:spPr>
          <a:xfrm>
            <a:off x="4389120" y="1874520"/>
            <a:ext cx="72237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Diagrama do fluxo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Inserir › Imagens › fluxo de acordo (fluxos-pje-ativos)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09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04 · OS FLUXOS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Fluxo de Mandado de Segurança</a:t>
            </a:r>
            <a:endParaRPr lang="en-US" sz="3200" dirty="0"/>
          </a:p>
        </p:txBody>
      </p:sp>
      <p:sp>
        <p:nvSpPr>
          <p:cNvPr id="4" name="Marcador 1"/>
          <p:cNvSpPr/>
          <p:nvPr/>
        </p:nvSpPr>
        <p:spPr>
          <a:xfrm>
            <a:off x="548640" y="212140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[o que o fluxo cobre]</a:t>
            </a:r>
            <a:endParaRPr lang="en-US" sz="1600" dirty="0"/>
          </a:p>
        </p:txBody>
      </p:sp>
      <p:sp>
        <p:nvSpPr>
          <p:cNvPr id="6" name="Marcador 2"/>
          <p:cNvSpPr/>
          <p:nvPr/>
        </p:nvSpPr>
        <p:spPr>
          <a:xfrm>
            <a:off x="548640" y="3264408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1546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[principais caminhos]</a:t>
            </a:r>
            <a:endParaRPr lang="en-US" sz="1600" dirty="0"/>
          </a:p>
        </p:txBody>
      </p:sp>
      <p:sp>
        <p:nvSpPr>
          <p:cNvPr id="8" name="Marcador 3"/>
          <p:cNvSpPr/>
          <p:nvPr/>
        </p:nvSpPr>
        <p:spPr>
          <a:xfrm>
            <a:off x="548640" y="4407408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2976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[ganho para a vara e as partes]</a:t>
            </a:r>
            <a:endParaRPr lang="en-US" sz="1600" dirty="0"/>
          </a:p>
        </p:txBody>
      </p:sp>
      <p:sp>
        <p:nvSpPr>
          <p:cNvPr id="10" name="Área do diagrama"/>
          <p:cNvSpPr/>
          <p:nvPr/>
        </p:nvSpPr>
        <p:spPr>
          <a:xfrm>
            <a:off x="4389120" y="1874520"/>
            <a:ext cx="7223760" cy="4160520"/>
          </a:xfrm>
          <a:prstGeom prst="roundRect">
            <a:avLst>
              <a:gd name="adj" fmla="val 3297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11" name="Instrução do diagrama"/>
          <p:cNvSpPr txBox="1"/>
          <p:nvPr/>
        </p:nvSpPr>
        <p:spPr>
          <a:xfrm>
            <a:off x="4389120" y="1874520"/>
            <a:ext cx="72237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Diagrama do fluxo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Inserir › Imagens › fluxo de MS (fluxos-ms-svg)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509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04 · OS FLUXOS</a:t>
            </a:r>
            <a:endParaRPr lang="en-US" sz="1300" dirty="0"/>
          </a:p>
        </p:txBody>
      </p:sp>
      <p:sp>
        <p:nvSpPr>
          <p:cNvPr id="3" name="Círculo demo"/>
          <p:cNvSpPr/>
          <p:nvPr/>
        </p:nvSpPr>
        <p:spPr>
          <a:xfrm>
            <a:off x="8778240" y="1737360"/>
            <a:ext cx="3017520" cy="3017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Círculo laranja"/>
          <p:cNvSpPr/>
          <p:nvPr/>
        </p:nvSpPr>
        <p:spPr>
          <a:xfrm>
            <a:off x="8412480" y="14630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Círculo azul claro"/>
          <p:cNvSpPr/>
          <p:nvPr/>
        </p:nvSpPr>
        <p:spPr>
          <a:xfrm>
            <a:off x="11521440" y="4480560"/>
            <a:ext cx="320040" cy="3200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Ícone pla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27889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8288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execução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Os fluxos de Acordo e de Mandado de Segurança rodando no PJe.</a:t>
            </a:r>
            <a:endParaRPr lang="en-US" sz="2200" dirty="0"/>
          </a:p>
        </p:txBody>
      </p:sp>
      <p:sp>
        <p:nvSpPr>
          <p:cNvPr id="9" name="Etiqueta Acordo"/>
          <p:cNvSpPr/>
          <p:nvPr/>
        </p:nvSpPr>
        <p:spPr>
          <a:xfrm>
            <a:off x="548640" y="4251960"/>
            <a:ext cx="1691640" cy="594360"/>
          </a:xfrm>
          <a:prstGeom prst="roundRect">
            <a:avLst>
              <a:gd name="adj" fmla="val 49231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42519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Acordo</a:t>
            </a:r>
            <a:endParaRPr lang="en-US" sz="1700" dirty="0"/>
          </a:p>
        </p:txBody>
      </p:sp>
      <p:sp>
        <p:nvSpPr>
          <p:cNvPr id="11" name="Etiqueta Mandado de Segurança"/>
          <p:cNvSpPr/>
          <p:nvPr/>
        </p:nvSpPr>
        <p:spPr>
          <a:xfrm>
            <a:off x="2468880" y="4251960"/>
            <a:ext cx="3291840" cy="594360"/>
          </a:xfrm>
          <a:prstGeom prst="roundRect">
            <a:avLst>
              <a:gd name="adj" fmla="val 49231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468880" y="4251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Mandado de Segurança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OBRIGADO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32588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Fluxos melhores, justiça mais próxima das pessoas</a:t>
            </a:r>
            <a:endParaRPr lang="en-US" sz="3800" dirty="0"/>
          </a:p>
        </p:txBody>
      </p:sp>
      <p:pic>
        <p:nvPicPr>
          <p:cNvPr id="4" name="Logo Laboratório de Fluxos" descr="/home/user/lab-fluxos-demo/apresentacao/expojud-2026/logo-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3429000"/>
            <a:ext cx="4037896" cy="914400"/>
          </a:xfrm>
          <a:prstGeom prst="rect">
            <a:avLst/>
          </a:prstGeom>
        </p:spPr>
      </p:pic>
      <p:pic>
        <p:nvPicPr>
          <p:cNvPr id="5" name="Logo Justiça Centrada nas Pessoas" descr="/home/user/lab-fluxos-demo/apresentacao/expojud-2026/logo-j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880360"/>
            <a:ext cx="2011680" cy="1999017"/>
          </a:xfrm>
          <a:prstGeom prst="rect">
            <a:avLst/>
          </a:prstGeom>
        </p:spPr>
      </p:pic>
      <p:sp>
        <p:nvSpPr>
          <p:cNvPr id="6" name="Text 2">
            <a:hlinkClick r:id="rId3" tooltip=""/>
          </p:cNvPr>
          <p:cNvSpPr txBox="1"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justicacentradanaspessoas.jfce.jus.br/laboratorio-de-fluxos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oratório de Fluxos">
  <a:themeElements>
    <a:clrScheme name="Laboratório de Fluxos">
      <a:dk1>
        <a:srgbClr val="0B2A45"/>
      </a:dk1>
      <a:lt1>
        <a:srgbClr val="FFFFFF"/>
      </a:lt1>
      <a:dk2>
        <a:srgbClr val="00699F"/>
      </a:dk2>
      <a:lt2>
        <a:srgbClr val="EEF5FA"/>
      </a:lt2>
      <a:accent1>
        <a:srgbClr val="00699F"/>
      </a:accent1>
      <a:accent2>
        <a:srgbClr val="2BB5E0"/>
      </a:accent2>
      <a:accent3>
        <a:srgbClr val="F59C2C"/>
      </a:accent3>
      <a:accent4>
        <a:srgbClr val="E8512C"/>
      </a:accent4>
      <a:accent5>
        <a:srgbClr val="5B6B7A"/>
      </a:accent5>
      <a:accent6>
        <a:srgbClr val="DCE6EE"/>
      </a:accent6>
      <a:hlink>
        <a:srgbClr val="00699F"/>
      </a:hlink>
      <a:folHlink>
        <a:srgbClr val="5B6B7A"/>
      </a:folHlink>
    </a:clrScheme>
    <a:fontScheme name="Laboratório de Fluxo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 criação do Laboratório de Fluxos à entrega dos fluxos de Acordo e Mandado de Segurança no TRF5</dc:title>
  <dc:subject>PJe Summit · 10ª ExpoJud</dc:subject>
  <dc:creator>Vinícius Sousa e Silva</dc:creator>
  <cp:lastModifiedBy>Vinícius Sousa e Silva</cp:lastModifiedBy>
  <cp:revision>1</cp:revision>
  <dcterms:created xsi:type="dcterms:W3CDTF">2026-10-07T12:58:40Z</dcterms:created>
  <dcterms:modified xsi:type="dcterms:W3CDTF">2026-10-07T12:58:40Z</dcterms:modified>
</cp:coreProperties>
</file>